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METODOLOGÍA · PREPARACIÓN FÍSICA EN EL FÚTBOL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aproximación</a:t>
            </a:r>
            <a:endParaRPr lang="en-US" sz="58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800" b="1" dirty="0">
                <a:solidFill>
                  <a:srgbClr val="F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de fuerza y modulación de tensiones en el fútbol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5074920"/>
            <a:ext cx="411480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257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Joaquín Reiris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Preparador físico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80015" y="5120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000" b="1" i="1" dirty="0">
                <a:solidFill>
                  <a:srgbClr val="1E2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JR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DE LA CHARLA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ideas, un mismo hilo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91640" y="20574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paradigma de la complejidad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fútbol no se entrena como un deporte cerrado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24328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791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6791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deportista hipercomplejo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estructuras que entrenamos a la vez, no por separado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30098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Optimizador vs. coadyuvante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roles del entrenamiento, una misma dirección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867912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2277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92277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movimiento no lineal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sobre la que aplicamos la fuerza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4489704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445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544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límites de la fuerza máxima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más fuerza deja de ser más rendimiento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5111496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663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fascia como red continua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tejido que transmite y redistribuye las tensiones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5733288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7881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78815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Modulación activa miofascial   </a:t>
            </a:r>
            <a:pPr indent="0" marL="0"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las cosas en su sitio dentro del microciclo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6355080"/>
            <a:ext cx="10637215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EL PARADIGMA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fútbol es un deporte de equipo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mirar el rendimiento. La tradicional sirve de apoyo; la de la complejidad es la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090008" cy="3108960"/>
          </a:xfrm>
          <a:prstGeom prst="roundRect">
            <a:avLst>
              <a:gd name="adj" fmla="val 2647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64008" cy="3108960"/>
          </a:xfrm>
          <a:prstGeom prst="rect">
            <a:avLst/>
          </a:prstGeom>
          <a:solidFill>
            <a:srgbClr val="9AA4C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432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PARADIGMA DE APOYO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Tradicional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Racional · Analítico · Reduccionista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 · Competitivo · Cuantitativo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4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Descompone al jugador en cualidades aisladas y las maximiza por separado.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514600"/>
            <a:ext cx="5090008" cy="3108960"/>
          </a:xfrm>
          <a:prstGeom prst="roundRect">
            <a:avLst>
              <a:gd name="adj" fmla="val 2647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4448" y="2514600"/>
            <a:ext cx="64008" cy="31089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27432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PARADIGMA DE 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44488" y="301752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Intuitivo · Sintético · Holístico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 · Cooperativo · Cualitativo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4488" y="475488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Entiende al jugador como un sistema dinámico que se autoorganiza dentro del juego.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Seirul·lo Vargas, F. (2003). Sistemas dinámicos y rendimiento en deportes de equipo.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PARADIGMA DE LA COMPLEJIDAD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EL PARADIGMA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"nuevo rol" del preparador físico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10637215" cy="1051560"/>
          </a:xfrm>
          <a:prstGeom prst="roundRect">
            <a:avLst>
              <a:gd name="adj" fmla="val 7826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" cy="10515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 la naturaleza del deporte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65960" y="2761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el fútbol como lo que es: un deporte abierto e inesperado.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3246120"/>
            <a:ext cx="0" cy="182880"/>
          </a:xfrm>
          <a:prstGeom prst="line">
            <a:avLst/>
          </a:prstGeom>
          <a:noFill/>
          <a:ln w="25400">
            <a:solidFill>
              <a:srgbClr val="FF5C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3429000"/>
            <a:ext cx="10637215" cy="1051560"/>
          </a:xfrm>
          <a:prstGeom prst="roundRect">
            <a:avLst>
              <a:gd name="adj" fmla="val 7826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64008" cy="10515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965960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Asumir la incertidumbre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65960" y="3995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Variabilidad, turbulencias, autoorganización y emergencias forman parte del juego.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4480560"/>
            <a:ext cx="0" cy="182880"/>
          </a:xfrm>
          <a:prstGeom prst="line">
            <a:avLst/>
          </a:prstGeom>
          <a:noFill/>
          <a:ln w="25400">
            <a:solidFill>
              <a:srgbClr val="FF5C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4663440"/>
            <a:ext cx="10637215" cy="1051560"/>
          </a:xfrm>
          <a:prstGeom prst="roundRect">
            <a:avLst>
              <a:gd name="adj" fmla="val 7826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63440"/>
            <a:ext cx="64008" cy="10515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66344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96596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 un modelo integral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965960" y="5230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preparación del deportista inseparable de la propia realidad del deporte.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Pol, R., Balagué, N., Ric, A. et al. (2020). Training or Synergizing? Sports Med - Open, 6, 28.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PARADIGMA DE LA COMPLEJIDAD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B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EL DEPORTISTA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humano deportista es una estructura hipercompleja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0" y="3840480"/>
            <a:ext cx="0" cy="-1627632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3840480"/>
            <a:ext cx="1409571" cy="-813816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3840480"/>
            <a:ext cx="1409571" cy="813816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40480"/>
            <a:ext cx="0" cy="1627632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3840480"/>
            <a:ext cx="-1409571" cy="813816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3840480"/>
            <a:ext cx="-1409571" cy="-813816"/>
          </a:xfrm>
          <a:prstGeom prst="line">
            <a:avLst/>
          </a:prstGeom>
          <a:noFill/>
          <a:ln w="15875">
            <a:solidFill>
              <a:srgbClr val="2E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200400"/>
            <a:ext cx="1280160" cy="1280160"/>
          </a:xfrm>
          <a:prstGeom prst="ellipse">
            <a:avLst/>
          </a:prstGeom>
          <a:solidFill>
            <a:srgbClr val="FF5C3A"/>
          </a:solidFill>
          <a:ln w="38100">
            <a:solidFill>
              <a:srgbClr val="0F1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DEPORTISTA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81328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F2A65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6744" y="1792224"/>
            <a:ext cx="530352" cy="5303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23225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09971" y="2295144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9B8CE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315" y="2606040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9971" y="3136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09971" y="3922776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5FB6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315" y="4233672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09971" y="4764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Emotivo-volitiva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0" y="4736592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C58CE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5047488"/>
            <a:ext cx="530352" cy="5303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040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Creativo-expresiva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790829" y="3922776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F2C94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173" y="4233672"/>
            <a:ext cx="530352" cy="5303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90829" y="4764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Coordinativa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790829" y="2295144"/>
            <a:ext cx="1463040" cy="1463040"/>
          </a:xfrm>
          <a:prstGeom prst="ellipse">
            <a:avLst/>
          </a:prstGeom>
          <a:solidFill>
            <a:srgbClr val="1E2A55"/>
          </a:solidFill>
          <a:ln w="25400">
            <a:solidFill>
              <a:srgbClr val="EB6B6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173" y="2606040"/>
            <a:ext cx="530352" cy="5303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90829" y="3136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Socio-afectiva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822960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entrenamos cualidades sueltas.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8229600" y="3474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tarea moviliza al mismo tiempo lo condicional, lo cognitivo, lo emotivo, lo coordinativo, lo creativo y lo socio-afectivo.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2960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rendimiento emerge de la interacción entre estas estructuras, no de su suma.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77240" y="5989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entrenamiento en los deportes de equipo (Seirul·lo, 2017).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DEPORTISTA HIPERCOMPLEJO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B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EL DEPORTISTA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es provocar autoorganización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estímulo no es una orden de ejecución: es una situación que obliga al jugador a reorganizarse.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34290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84168" y="4526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simuladoras preferenciales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95848" y="3931920"/>
            <a:ext cx="-1828800" cy="-100584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  <a:tailEnd type="oval"/>
          </a:ln>
        </p:spPr>
      </p:sp>
      <p:sp>
        <p:nvSpPr>
          <p:cNvPr id="8" name="Text 5"/>
          <p:cNvSpPr/>
          <p:nvPr/>
        </p:nvSpPr>
        <p:spPr>
          <a:xfrm>
            <a:off x="3398368" y="2724912"/>
            <a:ext cx="1737360" cy="402336"/>
          </a:xfrm>
          <a:prstGeom prst="rect">
            <a:avLst/>
          </a:prstGeom>
          <a:solidFill>
            <a:srgbClr val="1821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Variabilidad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5848" y="3931920"/>
            <a:ext cx="1828800" cy="-100584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  <a:tailEnd type="oval"/>
          </a:ln>
        </p:spPr>
      </p:sp>
      <p:sp>
        <p:nvSpPr>
          <p:cNvPr id="10" name="Text 7"/>
          <p:cNvSpPr/>
          <p:nvPr/>
        </p:nvSpPr>
        <p:spPr>
          <a:xfrm>
            <a:off x="7055968" y="2724912"/>
            <a:ext cx="1737360" cy="402336"/>
          </a:xfrm>
          <a:prstGeom prst="rect">
            <a:avLst/>
          </a:prstGeom>
          <a:solidFill>
            <a:srgbClr val="1821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Incertidumbre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95848" y="3931920"/>
            <a:ext cx="-329184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  <a:tailEnd type="oval"/>
          </a:ln>
        </p:spPr>
      </p:sp>
      <p:sp>
        <p:nvSpPr>
          <p:cNvPr id="12" name="Text 9"/>
          <p:cNvSpPr/>
          <p:nvPr/>
        </p:nvSpPr>
        <p:spPr>
          <a:xfrm>
            <a:off x="1935328" y="3730752"/>
            <a:ext cx="1737360" cy="402336"/>
          </a:xfrm>
          <a:prstGeom prst="rect">
            <a:avLst/>
          </a:prstGeom>
          <a:solidFill>
            <a:srgbClr val="1821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Perturbaciones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95848" y="3931920"/>
            <a:ext cx="329184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  <a:tailEnd type="oval"/>
          </a:ln>
        </p:spPr>
      </p:sp>
      <p:sp>
        <p:nvSpPr>
          <p:cNvPr id="14" name="Text 11"/>
          <p:cNvSpPr/>
          <p:nvPr/>
        </p:nvSpPr>
        <p:spPr>
          <a:xfrm>
            <a:off x="8519008" y="3730752"/>
            <a:ext cx="1737360" cy="402336"/>
          </a:xfrm>
          <a:prstGeom prst="rect">
            <a:avLst/>
          </a:prstGeom>
          <a:solidFill>
            <a:srgbClr val="1821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Emergencias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entrenamiento en los deportes de equipo (Seirul·lo, 2017).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DEPORTISTA HIPERCOMPLEJO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B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EL DEPORTISTA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abordamos la metodología?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4861408" cy="3200400"/>
          </a:xfrm>
          <a:prstGeom prst="roundRect">
            <a:avLst>
              <a:gd name="adj" fmla="val 2571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" cy="320040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FOCO EN EL JUGADOR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01752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jugador resuelve, se adapta y se reorganiza ante cada tarea.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93776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entrenamiento en los deportes de equipo — F. Seirul·lo Vargas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38648" y="3566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53048" y="2286000"/>
            <a:ext cx="4861408" cy="3200400"/>
          </a:xfrm>
          <a:prstGeom prst="roundRect">
            <a:avLst>
              <a:gd name="adj" fmla="val 2571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2286000"/>
            <a:ext cx="64008" cy="3200400"/>
          </a:xfrm>
          <a:prstGeom prst="rect">
            <a:avLst/>
          </a:prstGeom>
          <a:solidFill>
            <a:srgbClr val="5F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18808" y="256032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FOCO EN EL JUEGO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18808" y="301752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modelo de juego organiza y da sentido a cada estímulo.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918808" y="493776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Periodización táctica — V. Frade / X. Tamarit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puertas de entrada al mismo problema. Mi trabajo parte del jugador.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DEPORTISTA HIPERCOMPLEJO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F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DOS ROLES DEL ENTRENAMIENTO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optimizador y coadyuvante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64008" cy="1371600"/>
          </a:xfrm>
          <a:prstGeom prst="rect">
            <a:avLst/>
          </a:prstGeom>
          <a:solidFill>
            <a:srgbClr val="FF5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871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74520" y="2788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Planificación, diseño, ejecución y control de las tareas de entrenamiento.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56855" y="219456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PREPARACIÓN</a:t>
            </a:r>
            <a:endParaRPr lang="en-US" sz="13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EL RENDIMIENTO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72888" y="3566160"/>
            <a:ext cx="0" cy="457200"/>
          </a:xfrm>
          <a:prstGeom prst="line">
            <a:avLst/>
          </a:prstGeom>
          <a:noFill/>
          <a:ln w="25400">
            <a:solidFill>
              <a:srgbClr val="FF5C3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918808" y="4023360"/>
            <a:ext cx="0" cy="457200"/>
          </a:xfrm>
          <a:prstGeom prst="line">
            <a:avLst/>
          </a:prstGeom>
          <a:noFill/>
          <a:ln w="25400">
            <a:solidFill>
              <a:srgbClr val="FF5C3A"/>
            </a:solidFill>
            <a:prstDash val="solid"/>
            <a:headEnd type="triangle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16" y="3703320"/>
            <a:ext cx="512064" cy="5120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7240" y="457200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572000"/>
            <a:ext cx="64008" cy="1371600"/>
          </a:xfrm>
          <a:prstGeom prst="rect">
            <a:avLst/>
          </a:prstGeom>
          <a:solidFill>
            <a:srgbClr val="FF8C7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56048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Coadyuvante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87452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las estructuras y sistemas que aproximan al deportista al nivel de rendimiento deseado.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56855" y="466344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PREPARACIÓN</a:t>
            </a:r>
            <a:endParaRPr lang="en-US" sz="13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EL ENTRENAMIENTO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Gómez et al. (2019); Trench et al. (2020) — El entrenamiento coadyuvante y optimizador en el FC Barcelona.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OPTIMIZADOR VS. COADYUVANTE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F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OPTIMIZADOR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Optimizador: diseñar la situación, no el músculo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64008" cy="256032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Sujeto · Entorno · Tarea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1148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movimiento deportivo emerge de la interacción de los tres.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09618" y="3749040"/>
            <a:ext cx="731520" cy="0"/>
          </a:xfrm>
          <a:prstGeom prst="line">
            <a:avLst/>
          </a:prstGeom>
          <a:noFill/>
          <a:ln w="31750">
            <a:solidFill>
              <a:srgbClr val="F2C94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75378" y="246888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5378" y="2468880"/>
            <a:ext cx="64008" cy="2560320"/>
          </a:xfrm>
          <a:prstGeom prst="rect">
            <a:avLst/>
          </a:prstGeom>
          <a:solidFill>
            <a:srgbClr val="5FB6D6"/>
          </a:solidFill>
          <a:ln/>
        </p:spPr>
      </p:sp>
      <p:sp>
        <p:nvSpPr>
          <p:cNvPr id="12" name="Text 10"/>
          <p:cNvSpPr/>
          <p:nvPr/>
        </p:nvSpPr>
        <p:spPr>
          <a:xfrm>
            <a:off x="4749698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5FB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49698" y="32918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simuladoras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49698" y="41148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Genéricas, generales, dirigidas, especiales y competitivas.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07757" y="3749040"/>
            <a:ext cx="731520" cy="0"/>
          </a:xfrm>
          <a:prstGeom prst="line">
            <a:avLst/>
          </a:prstGeom>
          <a:noFill/>
          <a:ln w="31750">
            <a:solidFill>
              <a:srgbClr val="5FB6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73517" y="246888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3517" y="2468880"/>
            <a:ext cx="64008" cy="256032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47837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47837" y="32918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Constreñimientos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47837" y="41148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que provocan las adaptaciones que buscamos.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situación no cubre alguna demanda condicional, se compensa con tarea analítica para mantener el nivel de fitness.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coordination and regulation of movement — N. Bernstein (1967).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OPTIMIZADOR VS. COADYUVANTE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COADYUVANTE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"Repetición sin repetición"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Bernstein: ningún movimiento deportivo se repite igual. Entrenamos la capacidad de resolver, no de copiar.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5090008" cy="2651760"/>
          </a:xfrm>
          <a:prstGeom prst="roundRect">
            <a:avLst>
              <a:gd name="adj" fmla="val 31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51760"/>
            <a:ext cx="64008" cy="2651760"/>
          </a:xfrm>
          <a:prstGeom prst="rect">
            <a:avLst/>
          </a:prstGeom>
          <a:solidFill>
            <a:srgbClr val="9AA4C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 deportivo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47472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Único · Irrepetible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402336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gesto es una solución nueva a un problema que nunca es idéntico.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8" y="2651760"/>
            <a:ext cx="5090008" cy="2651760"/>
          </a:xfrm>
          <a:prstGeom prst="roundRect">
            <a:avLst>
              <a:gd name="adj" fmla="val 3103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2651760"/>
            <a:ext cx="64008" cy="26517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90208" y="2971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90208" y="347472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Repetición sin repetición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0208" y="4023360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Repetimos el objetivo, no la ejecución: variamos el contexto para enriquecer el repertorio motor.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2968" y="3977640"/>
            <a:ext cx="365760" cy="0"/>
          </a:xfrm>
          <a:prstGeom prst="line">
            <a:avLst/>
          </a:prstGeom>
          <a:noFill/>
          <a:ln w="31750">
            <a:solidFill>
              <a:srgbClr val="FF5C3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coordination and regulation of movement — N. Bernstein (1967).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OPTIMIZADOR VS. COADYUVANTE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COADYUVANTE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de variable es óptimo?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5760720"/>
            <a:ext cx="0" cy="-3474720"/>
          </a:xfrm>
          <a:prstGeom prst="line">
            <a:avLst/>
          </a:prstGeom>
          <a:noFill/>
          <a:ln w="19050">
            <a:solidFill>
              <a:srgbClr val="9AA4C2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280160" y="5760720"/>
            <a:ext cx="5852160" cy="0"/>
          </a:xfrm>
          <a:prstGeom prst="line">
            <a:avLst/>
          </a:prstGeom>
          <a:noFill/>
          <a:ln w="19050">
            <a:solidFill>
              <a:srgbClr val="9AA4C2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 rot="16200000">
            <a:off x="0" y="2286000"/>
            <a:ext cx="1097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VARIABILIDAD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5833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19620000">
            <a:off x="2103120" y="35204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5C3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 rot="19620000">
            <a:off x="278892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 LA TAREA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INEFICIENCIA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5349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5349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MONOTONÍA · SUBENTRENAMIENTO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· EFICIENCIA · ADAPTACIÓN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8096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 rígido, ni caótico.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80960" y="3063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variabilidad útil vive en una banda: la suficiente para forzar adaptación y control, sin caer en monotonía ni en riesgo.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4343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Ahí aparecen el control, la tolerancia y el estado de flow.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OPTIMIZADOR VS. COADYUVANTE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COADYUVANTE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fuerza, al servicio de las acciones del juego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entrenamiento coadyuvante organiza la fuerza alrededor de las acciones reales del fútbol.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2316404" cy="2834640"/>
          </a:xfrm>
          <a:prstGeom prst="roundRect">
            <a:avLst>
              <a:gd name="adj" fmla="val 355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68880"/>
            <a:ext cx="64008" cy="2834640"/>
          </a:xfrm>
          <a:prstGeom prst="rect">
            <a:avLst/>
          </a:prstGeom>
          <a:solidFill>
            <a:srgbClr val="EB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478242" y="2743200"/>
            <a:ext cx="914400" cy="91440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EB6B6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22" y="29260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794760"/>
            <a:ext cx="195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Lucha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42976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Empujar, traccionar, cargar, bloquear.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50844" y="2468880"/>
            <a:ext cx="2316404" cy="2834640"/>
          </a:xfrm>
          <a:prstGeom prst="roundRect">
            <a:avLst>
              <a:gd name="adj" fmla="val 355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50844" y="2468880"/>
            <a:ext cx="64008" cy="2834640"/>
          </a:xfrm>
          <a:prstGeom prst="rect">
            <a:avLst/>
          </a:prstGeom>
          <a:solidFill>
            <a:srgbClr val="9B8C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846" y="2743200"/>
            <a:ext cx="914400" cy="91440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9B8CE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726" y="29260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3724" y="3794760"/>
            <a:ext cx="195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779444" y="42976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Impulsar, despegar, recepcionar.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24448" y="2468880"/>
            <a:ext cx="2316404" cy="2834640"/>
          </a:xfrm>
          <a:prstGeom prst="roundRect">
            <a:avLst>
              <a:gd name="adj" fmla="val 355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24448" y="2468880"/>
            <a:ext cx="64008" cy="28346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9" name="Shape 15"/>
          <p:cNvSpPr/>
          <p:nvPr/>
        </p:nvSpPr>
        <p:spPr>
          <a:xfrm>
            <a:off x="7025450" y="2743200"/>
            <a:ext cx="914400" cy="91440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F2C94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330" y="29260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07328" y="3794760"/>
            <a:ext cx="195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Desplazamiento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553048" y="42976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Acelerar, frenar, cambiar de dirección.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98051" y="2468880"/>
            <a:ext cx="2316404" cy="2834640"/>
          </a:xfrm>
          <a:prstGeom prst="roundRect">
            <a:avLst>
              <a:gd name="adj" fmla="val 355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98051" y="2468880"/>
            <a:ext cx="64008" cy="2834640"/>
          </a:xfrm>
          <a:prstGeom prst="rect">
            <a:avLst/>
          </a:prstGeom>
          <a:solidFill>
            <a:srgbClr val="5FB6D6"/>
          </a:solidFill>
          <a:ln/>
        </p:spPr>
      </p:sp>
      <p:sp>
        <p:nvSpPr>
          <p:cNvPr id="25" name="Shape 20"/>
          <p:cNvSpPr/>
          <p:nvPr/>
        </p:nvSpPr>
        <p:spPr>
          <a:xfrm>
            <a:off x="9799053" y="2743200"/>
            <a:ext cx="914400" cy="91440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5FB6D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933" y="292608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80931" y="3794760"/>
            <a:ext cx="1950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Golpeo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326651" y="4297680"/>
            <a:ext cx="18592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Pasar, golpear, finalizar con balón.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8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 común: la FUERZA. Lo que cambia es la acción que la expresa.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Gómez, A. et al. (2019). Entrenamiento coadyuvante en el FCB. Apunts EF y Deportes, 138, 13-25.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OPTIMIZADOR VS. COADYUVANTE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EL MOVIMIENTO NO LINEAL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movimiento no lineal como base de la fuerza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4114800"/>
            <a:ext cx="0" cy="-178308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22192" y="2221992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6" name="Text 4"/>
          <p:cNvSpPr/>
          <p:nvPr/>
        </p:nvSpPr>
        <p:spPr>
          <a:xfrm>
            <a:off x="4096512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Torsiones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31920" y="4114800"/>
            <a:ext cx="1260828" cy="-1260828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83020" y="2744244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9" name="Text 7"/>
          <p:cNvSpPr/>
          <p:nvPr/>
        </p:nvSpPr>
        <p:spPr>
          <a:xfrm>
            <a:off x="5357340" y="26253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excéntrica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4114800"/>
            <a:ext cx="178308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5272" y="4005072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2" name="Text 10"/>
          <p:cNvSpPr/>
          <p:nvPr/>
        </p:nvSpPr>
        <p:spPr>
          <a:xfrm>
            <a:off x="5879592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Fluctuaciones / perturbaciones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4114800"/>
            <a:ext cx="1260828" cy="1260828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3020" y="5265900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5" name="Text 13"/>
          <p:cNvSpPr/>
          <p:nvPr/>
        </p:nvSpPr>
        <p:spPr>
          <a:xfrm>
            <a:off x="5357340" y="51470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Estocástico / inesperado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4114800"/>
            <a:ext cx="0" cy="178308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5788152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8" name="Text 16"/>
          <p:cNvSpPr/>
          <p:nvPr/>
        </p:nvSpPr>
        <p:spPr>
          <a:xfrm>
            <a:off x="4096512" y="5669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Unilateral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4114800"/>
            <a:ext cx="-1260828" cy="1260828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1364" y="5265900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1" name="Text 19"/>
          <p:cNvSpPr/>
          <p:nvPr/>
        </p:nvSpPr>
        <p:spPr>
          <a:xfrm>
            <a:off x="677700" y="51470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acomodada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4114800"/>
            <a:ext cx="-178308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4005072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/ RPA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0" y="4114800"/>
            <a:ext cx="-1260828" cy="-1260828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1364" y="2744244"/>
            <a:ext cx="219456" cy="21945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7" name="Text 25"/>
          <p:cNvSpPr/>
          <p:nvPr/>
        </p:nvSpPr>
        <p:spPr>
          <a:xfrm>
            <a:off x="677700" y="26253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/ eficacia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3337560"/>
            <a:ext cx="1554480" cy="1554480"/>
          </a:xfrm>
          <a:prstGeom prst="ellipse">
            <a:avLst/>
          </a:prstGeom>
          <a:solidFill>
            <a:srgbClr val="FF5C3A"/>
          </a:solidFill>
          <a:ln w="38100">
            <a:solidFill>
              <a:srgbClr val="0F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2743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fuerza en condiciones reales —multiarticular, asimétrico, inesperado— en vez de aislar un patrón estable.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Adaptación de Tous, J. (2007). Entrenamiento de la fuerza en los deportes colectivos. Mastercede, Barcelona.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MOVIMIENTO NO LINEAL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EL MOVIMIENTO NO LINEAL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aproximación al movimiento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7E8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7E86B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0–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01910" y="3639312"/>
            <a:ext cx="329184" cy="0"/>
          </a:xfrm>
          <a:prstGeom prst="line">
            <a:avLst/>
          </a:prstGeom>
          <a:noFill/>
          <a:ln w="19050">
            <a:solidFill>
              <a:srgbClr val="7E86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y base estructural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20355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6C74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0355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6C74C2"/>
          </a:solidFill>
          <a:ln/>
        </p:spPr>
      </p:sp>
      <p:sp>
        <p:nvSpPr>
          <p:cNvPr id="12" name="Text 10"/>
          <p:cNvSpPr/>
          <p:nvPr/>
        </p:nvSpPr>
        <p:spPr>
          <a:xfrm>
            <a:off x="2320355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0+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66075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45025" y="3639312"/>
            <a:ext cx="329184" cy="0"/>
          </a:xfrm>
          <a:prstGeom prst="line">
            <a:avLst/>
          </a:prstGeom>
          <a:noFill/>
          <a:ln w="19050">
            <a:solidFill>
              <a:srgbClr val="6C74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1795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y fuerza general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63471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4CA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3471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4CA6A0"/>
          </a:solidFill>
          <a:ln/>
        </p:spPr>
      </p:sp>
      <p:sp>
        <p:nvSpPr>
          <p:cNvPr id="18" name="Text 16"/>
          <p:cNvSpPr/>
          <p:nvPr/>
        </p:nvSpPr>
        <p:spPr>
          <a:xfrm>
            <a:off x="3863471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09191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carga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8140" y="3639312"/>
            <a:ext cx="329184" cy="0"/>
          </a:xfrm>
          <a:prstGeom prst="line">
            <a:avLst/>
          </a:prstGeom>
          <a:noFill/>
          <a:ln w="19050">
            <a:solidFill>
              <a:srgbClr val="4CA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4911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Tensión máxima, sin balón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06586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37B3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06586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37B3C9"/>
          </a:solidFill>
          <a:ln/>
        </p:spPr>
      </p:sp>
      <p:sp>
        <p:nvSpPr>
          <p:cNvPr id="24" name="Text 22"/>
          <p:cNvSpPr/>
          <p:nvPr/>
        </p:nvSpPr>
        <p:spPr>
          <a:xfrm>
            <a:off x="5406586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52306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Correspondencia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31256" y="3639312"/>
            <a:ext cx="329184" cy="0"/>
          </a:xfrm>
          <a:prstGeom prst="line">
            <a:avLst/>
          </a:prstGeom>
          <a:noFill/>
          <a:ln w="19050">
            <a:solidFill>
              <a:srgbClr val="37B3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8026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 cercano al del juego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701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F2C9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701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F2C94C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701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421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oposición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4371" y="3639312"/>
            <a:ext cx="329184" cy="0"/>
          </a:xfrm>
          <a:prstGeom prst="line">
            <a:avLst/>
          </a:prstGeom>
          <a:noFill/>
          <a:ln w="19050">
            <a:solidFill>
              <a:srgbClr val="F2C9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1141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abierta, sin rival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92817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F2A6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2817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F2A65A"/>
          </a:solidFill>
          <a:ln/>
        </p:spPr>
      </p:sp>
      <p:sp>
        <p:nvSpPr>
          <p:cNvPr id="36" name="Text 34"/>
          <p:cNvSpPr/>
          <p:nvPr/>
        </p:nvSpPr>
        <p:spPr>
          <a:xfrm>
            <a:off x="8492817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38537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oposición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17486" y="3639312"/>
            <a:ext cx="329184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4257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bajo presión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35932" y="2468880"/>
            <a:ext cx="1378523" cy="2286000"/>
          </a:xfrm>
          <a:prstGeom prst="roundRect">
            <a:avLst>
              <a:gd name="adj" fmla="val 4643"/>
            </a:avLst>
          </a:prstGeom>
          <a:solidFill>
            <a:srgbClr val="182143"/>
          </a:solidFill>
          <a:ln w="15875">
            <a:solidFill>
              <a:srgbClr val="FF5C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35932" y="2468880"/>
            <a:ext cx="1378523" cy="502920"/>
          </a:xfrm>
          <a:prstGeom prst="roundRect">
            <a:avLst>
              <a:gd name="adj" fmla="val 12727"/>
            </a:avLst>
          </a:prstGeom>
          <a:solidFill>
            <a:srgbClr val="FF5C3A"/>
          </a:solidFill>
          <a:ln/>
        </p:spPr>
      </p:sp>
      <p:sp>
        <p:nvSpPr>
          <p:cNvPr id="42" name="Text 40"/>
          <p:cNvSpPr/>
          <p:nvPr/>
        </p:nvSpPr>
        <p:spPr>
          <a:xfrm>
            <a:off x="10035932" y="2468880"/>
            <a:ext cx="1378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81652" y="3127248"/>
            <a:ext cx="1287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real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560602" y="3639312"/>
            <a:ext cx="329184" cy="0"/>
          </a:xfrm>
          <a:prstGeom prst="line">
            <a:avLst/>
          </a:prstGeom>
          <a:noFill/>
          <a:ln w="19050">
            <a:solidFill>
              <a:srgbClr val="FF5C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27372" y="374904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Competición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4892040"/>
            <a:ext cx="4464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GIMNASIO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06586" y="4892040"/>
            <a:ext cx="60078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" y="5212080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77240" y="53035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toma de decisión  ·  especificidad  ·  variabilidad del movimiento  +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Seirul·lo (2017); Fernández-Valdés (2020). Variabilidad del movimiento en el entrenamiento de fuerza.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MOVIMIENTO NO LINEAL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LOS LÍMITES DE LA FUERZA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activación máxima se satura temprano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no entrenados, 12 semanas y ~4 años de entrenamiento de fuerza.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3240938" cy="2651760"/>
          </a:xfrm>
          <a:prstGeom prst="roundRect">
            <a:avLst>
              <a:gd name="adj" fmla="val 31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68880"/>
            <a:ext cx="64008" cy="2651760"/>
          </a:xfrm>
          <a:prstGeom prst="rect">
            <a:avLst/>
          </a:prstGeom>
          <a:solidFill>
            <a:srgbClr val="5FB6D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9748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12 semanas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3520440"/>
            <a:ext cx="731520" cy="0"/>
          </a:xfrm>
          <a:prstGeom prst="line">
            <a:avLst/>
          </a:prstGeom>
          <a:noFill/>
          <a:ln w="25400">
            <a:solidFill>
              <a:srgbClr val="5FB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65760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máxima activación neural del agonista se optimiza pronto y deja de crecer.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75378" y="2468880"/>
            <a:ext cx="3240938" cy="2651760"/>
          </a:xfrm>
          <a:prstGeom prst="roundRect">
            <a:avLst>
              <a:gd name="adj" fmla="val 31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5378" y="2468880"/>
            <a:ext cx="64008" cy="2651760"/>
          </a:xfrm>
          <a:prstGeom prst="rect">
            <a:avLst/>
          </a:prstGeom>
          <a:solidFill>
            <a:srgbClr val="9B8C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49698" y="269748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años ≠ más drive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49698" y="3520440"/>
            <a:ext cx="731520" cy="0"/>
          </a:xfrm>
          <a:prstGeom prst="line">
            <a:avLst/>
          </a:prstGeom>
          <a:noFill/>
          <a:ln w="25400">
            <a:solidFill>
              <a:srgbClr val="9B8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9698" y="365760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gran avance neural a largo plazo no está en el agonista, sino en el antagonista.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73517" y="2468880"/>
            <a:ext cx="3240938" cy="2651760"/>
          </a:xfrm>
          <a:prstGeom prst="roundRect">
            <a:avLst>
              <a:gd name="adj" fmla="val 31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3517" y="2468880"/>
            <a:ext cx="64008" cy="26517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47837" y="269748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Refinar, no solo sumar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47837" y="3520440"/>
            <a:ext cx="731520" cy="0"/>
          </a:xfrm>
          <a:prstGeom prst="line">
            <a:avLst/>
          </a:prstGeom>
          <a:noFill/>
          <a:ln w="25400">
            <a:solidFill>
              <a:srgbClr val="FF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7837" y="365760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largo plazo manda la hipertrofia, menos co-activación y mejor coordinación intermuscular.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8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Entrenar fuerza durante años refina el sistema; no solo lo hace más fuerte.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Balshaw, T. et al. Neural adaptations after 4 years vs 12 weeks of resistance training vs untrained.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LÍMITES DE LA FUERZA MÁXIMA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LOS LÍMITES DE LA FUERZA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fuerza máxima no es más rendimiento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0637215" cy="1371600"/>
          </a:xfrm>
          <a:prstGeom prst="roundRect">
            <a:avLst>
              <a:gd name="adj" fmla="val 6000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" cy="13716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8600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Existe un límite biológico y neural: la mayoría de los jugadores no progresan de forma lineal e indefinida.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93192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931920"/>
            <a:ext cx="64008" cy="169164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1605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Pasado cierto punto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fuerza máxima ya no se traduce directamente en más rendimiento en el campo.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93192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4448" y="3931920"/>
            <a:ext cx="64008" cy="169164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41605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decide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44488" y="452628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 aplicación de fuerza y habilidades específicas de la tarea, más que la fuerza absoluta.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Aslam, S., Habyarimana, J. D., Shi Yong Bin. Neuromuscular adaptations in elite vs recreational athletes.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LÍMITES DE LA FUERZA MÁXIMA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LOS LÍMITES DE LA FUERZA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mirar y cuándo modificar la tarea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090008" cy="3200400"/>
          </a:xfrm>
          <a:prstGeom prst="roundRect">
            <a:avLst>
              <a:gd name="adj" fmla="val 2571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" cy="3200400"/>
          </a:xfrm>
          <a:prstGeom prst="rect">
            <a:avLst/>
          </a:prstGeom>
          <a:solidFill>
            <a:srgbClr val="9B8C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06040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atencional externo y distal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383280"/>
            <a:ext cx="4358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Mirar a un objetivo fuera del cuerpo mejora la coordinación compensatoria entre segmentos.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mejor ejecución de tareas motoras complejas, con menos rigideces internas.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4448" y="2286000"/>
            <a:ext cx="5090008" cy="3200400"/>
          </a:xfrm>
          <a:prstGeom prst="roundRect">
            <a:avLst>
              <a:gd name="adj" fmla="val 2571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24448" y="2286000"/>
            <a:ext cx="64008" cy="3200400"/>
          </a:xfrm>
          <a:prstGeom prst="rect">
            <a:avLst/>
          </a:prstGeom>
          <a:solidFill>
            <a:srgbClr val="F2C9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6060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0288" y="2606040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inercial (flywheel)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90208" y="3383280"/>
            <a:ext cx="4358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semanas reducen la variabilidad del movimiento y aumentan la velocidad, sobre todo con balón.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la semana 4, conviene revisar la tarea: el efecto de los constreñimientos puede agotarse.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Singh et al. — A distal external focus...; Fernández-Valdés et al. — Functional flywheel resistance training in rugby.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LÍMITES DE LA FUERZA MÁXIMA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04–05 ·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entrena realmente cada estímulo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240938" cy="3108960"/>
          </a:xfrm>
          <a:prstGeom prst="roundRect">
            <a:avLst>
              <a:gd name="adj" fmla="val 2647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" cy="31089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060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Co-activación muscular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38328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Isométricos reactivos, excéntricos rápidos, frenados, unilateral con perturbaciones.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4617720"/>
            <a:ext cx="2692298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7091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Enseñar al SNC cuándo co-activar, no solo a hacerlo.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75378" y="2377440"/>
            <a:ext cx="3240938" cy="3108960"/>
          </a:xfrm>
          <a:prstGeom prst="roundRect">
            <a:avLst>
              <a:gd name="adj" fmla="val 2647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5378" y="2377440"/>
            <a:ext cx="64008" cy="3108960"/>
          </a:xfrm>
          <a:prstGeom prst="rect">
            <a:avLst/>
          </a:prstGeom>
          <a:solidFill>
            <a:srgbClr val="9B8C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49698" y="26060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 coordinativa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49698" y="338328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distales externos, patrones de feedback–feedforward–anticipación.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49698" y="4617720"/>
            <a:ext cx="2692298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9698" y="47091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B8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 adaptación a perturbaciones y mayor espectro motor.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3517" y="2377440"/>
            <a:ext cx="3240938" cy="3108960"/>
          </a:xfrm>
          <a:prstGeom prst="roundRect">
            <a:avLst>
              <a:gd name="adj" fmla="val 2647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3517" y="2377440"/>
            <a:ext cx="64008" cy="310896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8" name="Text 16"/>
          <p:cNvSpPr/>
          <p:nvPr/>
        </p:nvSpPr>
        <p:spPr>
          <a:xfrm>
            <a:off x="8447837" y="26060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estructural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47837" y="3383280"/>
            <a:ext cx="2692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anatómica de base y mejora de la RFD.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47837" y="4617720"/>
            <a:ext cx="2692298" cy="0"/>
          </a:xfrm>
          <a:prstGeom prst="line">
            <a:avLst/>
          </a:prstGeom>
          <a:noFill/>
          <a:ln w="9525">
            <a:solidFill>
              <a:srgbClr val="2E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7837" y="4709160"/>
            <a:ext cx="2692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Sostener niveles de fuerza y acelerar la recuperación.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 FUERZA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fascia como</a:t>
            </a:r>
            <a:endParaRPr lang="en-US" sz="50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FF8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continua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tejido conectivo que envuelve, conecta y transmite tensiones a distancia — y que casi nunca aparece en el plan de fuerza.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931920"/>
            <a:ext cx="14630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propiedades que cambian el enfoque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" cy="2560320"/>
          </a:xfrm>
          <a:prstGeom prst="rect">
            <a:avLst/>
          </a:prstGeom>
          <a:solidFill>
            <a:srgbClr val="FF8C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2918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79476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tridimensional que envuelve e interconecta músculos, tendones, huesos, nervios y vísceras.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75378" y="237744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5378" y="2377440"/>
            <a:ext cx="64008" cy="2560320"/>
          </a:xfrm>
          <a:prstGeom prst="rect">
            <a:avLst/>
          </a:prstGeom>
          <a:solidFill>
            <a:srgbClr val="FF8C7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18" y="2651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5418" y="32918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Mecanosensible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95418" y="379476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Transmite fuerzas a distancia: una tensión local puede tener efectos en regiones alejadas.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73517" y="2377440"/>
            <a:ext cx="3240938" cy="2560320"/>
          </a:xfrm>
          <a:prstGeom prst="roundRect">
            <a:avLst>
              <a:gd name="adj" fmla="val 3214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73517" y="2377440"/>
            <a:ext cx="64008" cy="2560320"/>
          </a:xfrm>
          <a:prstGeom prst="rect">
            <a:avLst/>
          </a:prstGeom>
          <a:solidFill>
            <a:srgbClr val="FF8C7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6517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3557" y="32918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Adaptativa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93557" y="379476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Viscoelástica y tixotrópica: su rigidez depende del historial de carga, la velocidad y la duración del estímulo.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fuerza no se transmite solo por el tendón: también por conexiones miofasciales laterales — clave en acciones multiarticulares y asimétricas del fútbol.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Schleip et al. (2012); Wilke et al. (2018); Yahia et al. (1993).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deslizamiento depende de la hidratación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" cy="3108960"/>
          </a:xfrm>
          <a:prstGeom prst="rect">
            <a:avLst/>
          </a:prstGeom>
          <a:solidFill>
            <a:srgbClr val="5FB6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extracelular (ECM)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34747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 en agua, proteoglicanos y, sobre todo, ácido hialurónico (HA).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 actúa como lubricante entre capas fasciales: permite el deslizamiento y la adaptación a cargas complejas.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20840" y="2377440"/>
            <a:ext cx="4693615" cy="3108960"/>
          </a:xfrm>
          <a:prstGeom prst="roundRect">
            <a:avLst>
              <a:gd name="adj" fmla="val 2647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2377440"/>
            <a:ext cx="64008" cy="31089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269748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Hidratada vs. deshidratada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86600" y="3200400"/>
            <a:ext cx="3962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Hidratada →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movilidad, drenaje, comunicación celular, energía eficiente.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8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Deshidratada →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restricción del movimiento, dolor, densificación de capas.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Pratt, R. L. (2021). Hyaluronan and the Fascial Frontier. Int. J. Mol. Sci., 22(13), 6845.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miofasciales principales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tensión viaja por trenes de fascia que conectan zonas distantes del cuerpo.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231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Posterior superficial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64408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64408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6440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264408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Frontal superficial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105656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05656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0565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105656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Lateral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946904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946904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94690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4946904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Espiral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78728" y="2423160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423160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24231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93128" y="2423160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Líneas del brazo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78728" y="3264408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3264408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27" name="Text 25"/>
          <p:cNvSpPr/>
          <p:nvPr/>
        </p:nvSpPr>
        <p:spPr>
          <a:xfrm>
            <a:off x="6553048" y="326440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3128" y="3264408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Funcionales (ant./post./ipsi.)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78728" y="4105656"/>
            <a:ext cx="5135728" cy="713232"/>
          </a:xfrm>
          <a:prstGeom prst="roundRect">
            <a:avLst>
              <a:gd name="adj" fmla="val 11538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8728" y="4105656"/>
            <a:ext cx="64008" cy="713232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31" name="Text 29"/>
          <p:cNvSpPr/>
          <p:nvPr/>
        </p:nvSpPr>
        <p:spPr>
          <a:xfrm>
            <a:off x="6553048" y="410565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93128" y="4105656"/>
            <a:ext cx="403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Central frontal profunda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Myers, T. (2014). Anatomy Trains, 3.ª ed. Barcelona: Elsevier España.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falta variación, el tejido se rigidiza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10637215" cy="1325880"/>
          </a:xfrm>
          <a:prstGeom prst="roundRect">
            <a:avLst>
              <a:gd name="adj" fmla="val 6207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31720"/>
            <a:ext cx="64008" cy="132588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31720"/>
            <a:ext cx="98142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un movimiento, postura o patrón de fuerza se repite muchas veces sin apenas variación, el sistema desarrolla rigidez y pierde deslizamiento.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840480"/>
            <a:ext cx="3240938" cy="1783080"/>
          </a:xfrm>
          <a:prstGeom prst="roundRect">
            <a:avLst>
              <a:gd name="adj" fmla="val 461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840480"/>
            <a:ext cx="64008" cy="178308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2336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Viscoelasticidad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407408"/>
            <a:ext cx="26922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carga sostenida en el mismo vector, aumenta la rigidez y la resistencia a la deformación.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75378" y="3840480"/>
            <a:ext cx="3240938" cy="1783080"/>
          </a:xfrm>
          <a:prstGeom prst="roundRect">
            <a:avLst>
              <a:gd name="adj" fmla="val 461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5378" y="3840480"/>
            <a:ext cx="64008" cy="178308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3" name="Text 11"/>
          <p:cNvSpPr/>
          <p:nvPr/>
        </p:nvSpPr>
        <p:spPr>
          <a:xfrm>
            <a:off x="4749698" y="402336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celular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49698" y="4407408"/>
            <a:ext cx="26922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Fibroblastos y miofibroblastos reorganizan el colágeno; en contextos patológicos se vuelven más contráctiles.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73517" y="3840480"/>
            <a:ext cx="3240938" cy="1783080"/>
          </a:xfrm>
          <a:prstGeom prst="roundRect">
            <a:avLst>
              <a:gd name="adj" fmla="val 461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3517" y="3840480"/>
            <a:ext cx="64008" cy="1783080"/>
          </a:xfrm>
          <a:prstGeom prst="rect">
            <a:avLst/>
          </a:prstGeom>
          <a:solidFill>
            <a:srgbClr val="FF8C73"/>
          </a:solidFill>
          <a:ln/>
        </p:spPr>
      </p:sp>
      <p:sp>
        <p:nvSpPr>
          <p:cNvPr id="17" name="Text 15"/>
          <p:cNvSpPr/>
          <p:nvPr/>
        </p:nvSpPr>
        <p:spPr>
          <a:xfrm>
            <a:off x="8447837" y="402336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Densificación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7837" y="4407408"/>
            <a:ext cx="26922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 pierde su función lubricante y las capas dejan de moverse de forma independiente.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Zügel, M. et al. (2018). Fascial tissue research in sports medicine: consensus statement. Br J Sports Med, 52(23).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LA FASCIA · EVIDENCIA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Fascia toracolumbar e isquiotibiales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Futbolistas con historial de lesión de isquiotibiales mostraron: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957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rigidez de la fascia toracolumbar frente a jugadores no lesionados.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89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04495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rigidez de erector spinae y multífidos, en reposo y en contracción submáxima.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2219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7581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fascia mostró rigidez superior a la de los propios músculos: rol mecánico dominante.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7223760" y="2286000"/>
            <a:ext cx="4190695" cy="3337560"/>
          </a:xfrm>
          <a:prstGeom prst="roundRect">
            <a:avLst>
              <a:gd name="adj" fmla="val 2466"/>
            </a:avLst>
          </a:prstGeom>
          <a:solidFill>
            <a:srgbClr val="1E2A55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223760" y="2286000"/>
            <a:ext cx="64008" cy="333756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3" name="Text 8"/>
          <p:cNvSpPr/>
          <p:nvPr/>
        </p:nvSpPr>
        <p:spPr>
          <a:xfrm>
            <a:off x="75438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Implicaciones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543800" y="2971800"/>
            <a:ext cx="35506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específico sobre la fascia lumbar.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lumbopélvico.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la rigidez, no solo fuerza o flexibilidad.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Kellis, E., Kekelekis, A., Drakonaki, E. — Thoracolumbar fascia and lumbar muscle stiffness in athletes with hamstring injury.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FASCIA COMO RED CONTINUA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8CE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5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APLICACIÓN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Modulación activa</a:t>
            </a:r>
            <a:endParaRPr lang="en-US" sz="50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C58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miofascial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Optimizar la transmisión de fuerza y la recuperación regulando la tensión de las líneas miofasciales mediante el entrenamiento de reestructuración.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MODULACIÓN ACTIVA MIOFASCIAL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5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LAS COSAS A SU SITIO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herramientas de reestructuración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" cy="1691640"/>
          </a:xfrm>
          <a:prstGeom prst="rect">
            <a:avLst/>
          </a:prstGeom>
          <a:solidFill>
            <a:srgbClr val="EB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2633472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Tensión voluntaria activa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65960" y="329184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Estimula con eficacia los mecanorreceptores fasciales.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4448" y="237744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2377440"/>
            <a:ext cx="64008" cy="16916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/>
          <p:nvPr/>
        </p:nvSpPr>
        <p:spPr>
          <a:xfrm>
            <a:off x="6644488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13168" y="2633472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Rotaciones y torsiones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13168" y="329184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Favorecen el deslizamiento y la redistribución de tensión.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89120"/>
            <a:ext cx="64008" cy="1691640"/>
          </a:xfrm>
          <a:prstGeom prst="rect">
            <a:avLst/>
          </a:prstGeom>
          <a:solidFill>
            <a:srgbClr val="5F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17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5FB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65960" y="4645152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Excéntricos lentos y controlados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65960" y="53035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Mejoran el control neuromotor durante el movimiento.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4448" y="4389120"/>
            <a:ext cx="5090008" cy="1691640"/>
          </a:xfrm>
          <a:prstGeom prst="roundRect">
            <a:avLst>
              <a:gd name="adj" fmla="val 4865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4389120"/>
            <a:ext cx="64008" cy="1691640"/>
          </a:xfrm>
          <a:prstGeom prst="rect">
            <a:avLst/>
          </a:prstGeom>
          <a:solidFill>
            <a:srgbClr val="C58CE0"/>
          </a:solidFill>
          <a:ln/>
        </p:spPr>
      </p:sp>
      <p:sp>
        <p:nvSpPr>
          <p:cNvPr id="21" name="Text 19"/>
          <p:cNvSpPr/>
          <p:nvPr/>
        </p:nvSpPr>
        <p:spPr>
          <a:xfrm>
            <a:off x="6644488" y="4617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58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13168" y="4645152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dinámica resistida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13168" y="53035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Moviliza activamente líneas miofasciales parciales o completas.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MODULACIÓN ACTIVA MIOFASCIAL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5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MECANISMOS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funciona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240938" cy="2834640"/>
          </a:xfrm>
          <a:prstGeom prst="roundRect">
            <a:avLst>
              <a:gd name="adj" fmla="val 29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" cy="2834640"/>
          </a:xfrm>
          <a:prstGeom prst="rect">
            <a:avLst/>
          </a:prstGeom>
          <a:solidFill>
            <a:srgbClr val="C58C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337560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Hidratación y HA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931920"/>
            <a:ext cx="2600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Rotaciones y torsiones redistribuyen fluidos en la ECM (efecto esponja) y mejoran el estado lubricante.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75378" y="2377440"/>
            <a:ext cx="3240938" cy="2834640"/>
          </a:xfrm>
          <a:prstGeom prst="roundRect">
            <a:avLst>
              <a:gd name="adj" fmla="val 29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5378" y="2377440"/>
            <a:ext cx="64008" cy="2834640"/>
          </a:xfrm>
          <a:prstGeom prst="rect">
            <a:avLst/>
          </a:prstGeom>
          <a:solidFill>
            <a:srgbClr val="C58C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18" y="2651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5418" y="3337560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neuromotor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95418" y="3931920"/>
            <a:ext cx="2600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tensión activa y los excéntricos a baja carga estimulan mecanorreceptores sin provocar microdaño.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73517" y="2377440"/>
            <a:ext cx="3240938" cy="2834640"/>
          </a:xfrm>
          <a:prstGeom prst="roundRect">
            <a:avLst>
              <a:gd name="adj" fmla="val 2903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73517" y="2377440"/>
            <a:ext cx="64008" cy="2834640"/>
          </a:xfrm>
          <a:prstGeom prst="rect">
            <a:avLst/>
          </a:prstGeom>
          <a:solidFill>
            <a:srgbClr val="C58C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6517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3557" y="3337560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Realineación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93557" y="3931920"/>
            <a:ext cx="2600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movilidad dinámica resistida realinea líneas miofasciales y modula tensiones musculotendinosas.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58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Apropiado en días de recuperación y baja carga, para modular la rigidez funcional.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Lepley et al. (2017); McAuliffe et al. (2012).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MODULACIÓN ACTIVA MIOFASCIAL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58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entra cada contenido en la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MD+1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libre / post-lesión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96842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6842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96842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9994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96842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9994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16444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6444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MD-4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16444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9596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Reestructuración + EC estructural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16444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9596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Aceleraciones · COD's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36047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6047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MD-3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36047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9199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cualidades específicas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36047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9199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 / Sprint &gt; 90%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5649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5649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MD-2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5649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8801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Reestructuración / específicas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5649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8801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HSR / Sprint &gt; 90%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75251" y="2331720"/>
            <a:ext cx="1428162" cy="50292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251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MD-1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75251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8403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del jugador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75251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8403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SAQ · activación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894853" y="2331720"/>
            <a:ext cx="1428162" cy="502920"/>
          </a:xfrm>
          <a:prstGeom prst="rect">
            <a:avLst/>
          </a:prstGeom>
          <a:solidFill>
            <a:srgbClr val="FF5C3A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94853" y="2331720"/>
            <a:ext cx="1428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94853" y="2880360"/>
            <a:ext cx="1428162" cy="1234440"/>
          </a:xfrm>
          <a:prstGeom prst="rect">
            <a:avLst/>
          </a:prstGeom>
          <a:solidFill>
            <a:srgbClr val="182143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8005" y="292608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894853" y="4160520"/>
            <a:ext cx="1428162" cy="1234440"/>
          </a:xfrm>
          <a:prstGeom prst="rect">
            <a:avLst/>
          </a:prstGeom>
          <a:solidFill>
            <a:srgbClr val="1E2A55"/>
          </a:solidFill>
          <a:ln w="9525">
            <a:solidFill>
              <a:srgbClr val="2E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68005" y="4206240"/>
            <a:ext cx="12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77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FUERZA / EC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CONDICIONAL (CAMPO)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E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semana tipo — la reestructuración miofascial vive lejos del partido; lo neuromuscular y la velocidad, cerca.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MODULACIÓN ACTIVA MIOFASCIAL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para llevarse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10637215" cy="1143000"/>
          </a:xfrm>
          <a:prstGeom prst="roundRect">
            <a:avLst>
              <a:gd name="adj" fmla="val 7200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" cy="11430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68880"/>
            <a:ext cx="594360" cy="59436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FF5C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587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9456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880360" y="2423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Modulación activa miofascial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880360" y="28163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recuperación y la eficiencia del movimiento.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3520440"/>
            <a:ext cx="10637215" cy="1143000"/>
          </a:xfrm>
          <a:prstGeom prst="roundRect">
            <a:avLst>
              <a:gd name="adj" fmla="val 7200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520440"/>
            <a:ext cx="64008" cy="11430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13" name="Shape 10"/>
          <p:cNvSpPr/>
          <p:nvPr/>
        </p:nvSpPr>
        <p:spPr>
          <a:xfrm>
            <a:off x="1097280" y="3794760"/>
            <a:ext cx="594360" cy="59436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FF5C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391363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352044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2880360" y="3749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 funcional del tejido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2880360" y="4142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la transmisión de fuerza durante el entrenamiento.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77240" y="4846320"/>
            <a:ext cx="10637215" cy="1143000"/>
          </a:xfrm>
          <a:prstGeom prst="roundRect">
            <a:avLst>
              <a:gd name="adj" fmla="val 7200"/>
            </a:avLst>
          </a:prstGeom>
          <a:solidFill>
            <a:srgbClr val="182143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846320"/>
            <a:ext cx="64008" cy="11430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20" name="Shape 16"/>
          <p:cNvSpPr/>
          <p:nvPr/>
        </p:nvSpPr>
        <p:spPr>
          <a:xfrm>
            <a:off x="1097280" y="5120640"/>
            <a:ext cx="594360" cy="594360"/>
          </a:xfrm>
          <a:prstGeom prst="ellipse">
            <a:avLst/>
          </a:prstGeom>
          <a:solidFill>
            <a:srgbClr val="1E2A55"/>
          </a:solidFill>
          <a:ln w="19050">
            <a:solidFill>
              <a:srgbClr val="FF5C3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52395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484632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2880360" y="5074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complementario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2880360" y="5468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integra con los métodos tradicionales de fuerza, no los reemplaza.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5685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JROB</a:t>
            </a:r>
            <a:pPr algn="r" indent="0" marL="0">
              <a:buNone/>
            </a:pPr>
            <a:r>
              <a:rPr lang="en-US" sz="900" spc="200" kern="0" dirty="0">
                <a:solidFill>
                  <a:srgbClr val="9AA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C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Hablemos de</a:t>
            </a:r>
            <a:endParaRPr lang="en-US" sz="5000" dirty="0"/>
          </a:p>
          <a:p>
            <a:pPr indent="0" marL="0">
              <a:lnSpc>
                <a:spcPct val="97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4114800" cy="0"/>
          </a:xfrm>
          <a:prstGeom prst="line">
            <a:avLst/>
          </a:prstGeom>
          <a:noFill/>
          <a:ln w="12700">
            <a:solidFill>
              <a:srgbClr val="2E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480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Joaquín Reiris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Preparador físico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8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reiris.joaquin@gmail.com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97135" y="49377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400" b="1" i="1" dirty="0">
                <a:solidFill>
                  <a:srgbClr val="1E2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JR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 aproximación alternativa</dc:title>
  <dc:subject>PptxGenJS Presentation</dc:subject>
  <dc:creator>Joaquín Reiris</dc:creator>
  <cp:lastModifiedBy>Joaquín Reiris</cp:lastModifiedBy>
  <cp:revision>1</cp:revision>
  <dcterms:created xsi:type="dcterms:W3CDTF">2026-06-02T16:35:50Z</dcterms:created>
  <dcterms:modified xsi:type="dcterms:W3CDTF">2026-06-02T16:35:50Z</dcterms:modified>
</cp:coreProperties>
</file>